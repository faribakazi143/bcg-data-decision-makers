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457200"/>
          </a:xfrm>
          <a:prstGeom prst="rect">
            <a:avLst/>
          </a:prstGeom>
          <a:solidFill>
            <a:srgbClr val="00B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0A3D3A"/>
                </a:solidFill>
                <a:latin typeface="Arial"/>
              </a:rPr>
              <a:t>Campaign A via Email Drove the Highest New-Customer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0B5A0"/>
                </a:solidFill>
                <a:latin typeface="Arial"/>
              </a:rPr>
              <a:t>Campaign A beat B for new customers</a:t>
            </a:r>
          </a:p>
          <a:p>
            <a:pPr algn="ctr"/>
            <a:r>
              <a:rPr sz="1150" b="1">
                <a:solidFill>
                  <a:srgbClr val="00B5A0"/>
                </a:solidFill>
                <a:latin typeface="Arial"/>
              </a:rPr>
              <a:t>on every channel</a:t>
            </a:r>
          </a:p>
        </p:txBody>
      </p:sp>
      <p:pic>
        <p:nvPicPr>
          <p:cNvPr id="5" name="Picture 4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34" y="1783080"/>
            <a:ext cx="3062452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34256" y="123444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0B5A0"/>
                </a:solidFill>
                <a:latin typeface="Arial"/>
              </a:rPr>
              <a:t>63% of Campaign A's sales</a:t>
            </a:r>
          </a:p>
          <a:p>
            <a:pPr algn="ctr"/>
            <a:r>
              <a:rPr sz="1150" b="1">
                <a:solidFill>
                  <a:srgbClr val="00B5A0"/>
                </a:solidFill>
                <a:latin typeface="Arial"/>
              </a:rPr>
              <a:t>are new buyers</a:t>
            </a:r>
          </a:p>
        </p:txBody>
      </p:sp>
      <p:pic>
        <p:nvPicPr>
          <p:cNvPr id="7" name="Picture 6" descr="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5323" y="1783080"/>
            <a:ext cx="3049747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65592" y="123444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0B5A0"/>
                </a:solidFill>
                <a:latin typeface="Arial"/>
              </a:rPr>
              <a:t>Email is the widest-reach</a:t>
            </a:r>
          </a:p>
          <a:p>
            <a:pPr algn="ctr"/>
            <a:r>
              <a:rPr sz="1150" b="1">
                <a:solidFill>
                  <a:srgbClr val="00B5A0"/>
                </a:solidFill>
                <a:latin typeface="Arial"/>
              </a:rPr>
              <a:t>channel overall</a:t>
            </a:r>
          </a:p>
        </p:txBody>
      </p:sp>
      <p:pic>
        <p:nvPicPr>
          <p:cNvPr id="9" name="Picture 8" descr="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0306" y="1783080"/>
            <a:ext cx="3062452" cy="2743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257800"/>
            <a:ext cx="11183112" cy="1325880"/>
          </a:xfrm>
          <a:prstGeom prst="rect">
            <a:avLst/>
          </a:prstGeom>
          <a:solidFill>
            <a:srgbClr val="0A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201168" bIns="164592"/>
          <a:lstStyle/>
          <a:p>
            <a:pPr algn="ctr"/>
            <a:r>
              <a:rPr sz="1300" b="1">
                <a:solidFill>
                  <a:srgbClr val="00B5A0"/>
                </a:solidFill>
                <a:latin typeface="Arial"/>
              </a:rPr>
              <a:t>Recommendation</a:t>
            </a:r>
            <a:r>
              <a:rPr sz="1300" b="1">
                <a:solidFill>
                  <a:srgbClr val="FFFFFF"/>
                </a:solidFill>
                <a:latin typeface="Arial"/>
              </a:rPr>
              <a:t>   Prioritize Email + Campaign A to drive new-customer growth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FFFFFF"/>
                </a:solidFill>
                <a:latin typeface="Arial"/>
              </a:rPr>
              <a:t>Campaign A's informal tone won new customers on every channel — $2,124 vs $1,382 on Email, the top combo. With 63% of its sales from new buyers and Email's widest reach, scale Email + Campaign A and test a follow-up; keep Campaign B for existing customers.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